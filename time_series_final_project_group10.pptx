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256" r:id="rId5"/>
    <p:sldId id="582" r:id="rId6"/>
    <p:sldId id="583" r:id="rId7"/>
    <p:sldId id="586" r:id="rId8"/>
    <p:sldId id="575" r:id="rId9"/>
    <p:sldId id="577" r:id="rId10"/>
    <p:sldId id="587" r:id="rId11"/>
    <p:sldId id="578" r:id="rId12"/>
    <p:sldId id="579" r:id="rId13"/>
    <p:sldId id="581" r:id="rId14"/>
    <p:sldId id="57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79A040AF-BD8D-45B7-AF01-87A66A2BB9ED}">
          <p14:sldIdLst>
            <p14:sldId id="256"/>
          </p14:sldIdLst>
        </p14:section>
        <p14:section name="Problem Statement" id="{440D0811-513A-4363-9AE3-4435C39F9EDB}">
          <p14:sldIdLst>
            <p14:sldId id="582"/>
          </p14:sldIdLst>
        </p14:section>
        <p14:section name="Assumptions &amp; Hypotheses about Data and Modeling" id="{C21D3ACC-3155-4230-B3CB-F723ABEE4DD1}">
          <p14:sldIdLst>
            <p14:sldId id="583"/>
          </p14:sldIdLst>
        </p14:section>
        <p14:section name="Data Properties, Processing, and Feature Engineering" id="{FF6BFE36-2E87-49AC-A858-7BAE0F84E8B5}">
          <p14:sldIdLst>
            <p14:sldId id="586"/>
          </p14:sldIdLst>
        </p14:section>
        <p14:section name="Data Processing" id="{952C6F28-C6A7-463D-8AAC-061539A3EA5C}">
          <p14:sldIdLst/>
        </p14:section>
        <p14:section name="Models &amp; Results" id="{D8EF8ACB-7660-42DE-9E60-51EBF790FA00}">
          <p14:sldIdLst>
            <p14:sldId id="575"/>
            <p14:sldId id="577"/>
            <p14:sldId id="587"/>
            <p14:sldId id="578"/>
          </p14:sldIdLst>
        </p14:section>
        <p14:section name="Selected Model" id="{D9577454-C796-4961-8321-E7F4E56967AA}">
          <p14:sldIdLst>
            <p14:sldId id="579"/>
          </p14:sldIdLst>
        </p14:section>
        <p14:section name="Results &amp; Future Work" id="{01D3B2C9-FF7C-42E8-91C7-5247D2BBD17C}">
          <p14:sldIdLst>
            <p14:sldId id="581"/>
            <p14:sldId id="5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F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8A92A5-806B-475B-A235-BE08590520AA}" v="88" dt="2020-06-08T20:47:58.441"/>
    <p1510:client id="{1F4D870F-9EE3-4B3D-AC35-8B757AD70AB2}" v="33" dt="2020-06-08T17:07:04.725"/>
    <p1510:client id="{95E7F240-55E5-43C1-9773-0BF8DA3755F1}" v="28" dt="2020-06-08T16:06:33.3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364"/>
    <p:restoredTop sz="94696"/>
  </p:normalViewPr>
  <p:slideViewPr>
    <p:cSldViewPr snapToGrid="0">
      <p:cViewPr>
        <p:scale>
          <a:sx n="100" d="100"/>
          <a:sy n="100" d="100"/>
        </p:scale>
        <p:origin x="768" y="19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tya Pandey" userId="S::satyakam@uchicago.edu::92e1f717-5e6d-4e12-a67c-78e3153684ce" providerId="AD" clId="Web-{1F4D870F-9EE3-4B3D-AC35-8B757AD70AB2}"/>
    <pc:docChg chg="modSld">
      <pc:chgData name="Satya Pandey" userId="S::satyakam@uchicago.edu::92e1f717-5e6d-4e12-a67c-78e3153684ce" providerId="AD" clId="Web-{1F4D870F-9EE3-4B3D-AC35-8B757AD70AB2}" dt="2020-06-08T17:07:04.537" v="31" actId="14100"/>
      <pc:docMkLst>
        <pc:docMk/>
      </pc:docMkLst>
      <pc:sldChg chg="modSp">
        <pc:chgData name="Satya Pandey" userId="S::satyakam@uchicago.edu::92e1f717-5e6d-4e12-a67c-78e3153684ce" providerId="AD" clId="Web-{1F4D870F-9EE3-4B3D-AC35-8B757AD70AB2}" dt="2020-06-08T17:07:04.537" v="31" actId="14100"/>
        <pc:sldMkLst>
          <pc:docMk/>
          <pc:sldMk cId="2267276192" sldId="534"/>
        </pc:sldMkLst>
        <pc:spChg chg="mod">
          <ac:chgData name="Satya Pandey" userId="S::satyakam@uchicago.edu::92e1f717-5e6d-4e12-a67c-78e3153684ce" providerId="AD" clId="Web-{1F4D870F-9EE3-4B3D-AC35-8B757AD70AB2}" dt="2020-06-08T17:07:04.537" v="31" actId="14100"/>
          <ac:spMkLst>
            <pc:docMk/>
            <pc:sldMk cId="2267276192" sldId="534"/>
            <ac:spMk id="7" creationId="{00000000-0000-0000-0000-000000000000}"/>
          </ac:spMkLst>
        </pc:spChg>
      </pc:sldChg>
    </pc:docChg>
  </pc:docChgLst>
  <pc:docChgLst>
    <pc:chgData name="Satya Pandey" userId="S::satyakam@uchicago.edu::92e1f717-5e6d-4e12-a67c-78e3153684ce" providerId="AD" clId="Web-{0B8A92A5-806B-475B-A235-BE08590520AA}"/>
    <pc:docChg chg="modSld">
      <pc:chgData name="Satya Pandey" userId="S::satyakam@uchicago.edu::92e1f717-5e6d-4e12-a67c-78e3153684ce" providerId="AD" clId="Web-{0B8A92A5-806B-475B-A235-BE08590520AA}" dt="2020-06-08T20:47:58.441" v="87" actId="20577"/>
      <pc:docMkLst>
        <pc:docMk/>
      </pc:docMkLst>
      <pc:sldChg chg="modSp">
        <pc:chgData name="Satya Pandey" userId="S::satyakam@uchicago.edu::92e1f717-5e6d-4e12-a67c-78e3153684ce" providerId="AD" clId="Web-{0B8A92A5-806B-475B-A235-BE08590520AA}" dt="2020-06-08T20:11:42.574" v="46" actId="20577"/>
        <pc:sldMkLst>
          <pc:docMk/>
          <pc:sldMk cId="3170335522" sldId="533"/>
        </pc:sldMkLst>
        <pc:spChg chg="mod">
          <ac:chgData name="Satya Pandey" userId="S::satyakam@uchicago.edu::92e1f717-5e6d-4e12-a67c-78e3153684ce" providerId="AD" clId="Web-{0B8A92A5-806B-475B-A235-BE08590520AA}" dt="2020-06-08T20:11:42.574" v="46" actId="20577"/>
          <ac:spMkLst>
            <pc:docMk/>
            <pc:sldMk cId="3170335522" sldId="533"/>
            <ac:spMk id="3" creationId="{00000000-0000-0000-0000-000000000000}"/>
          </ac:spMkLst>
        </pc:spChg>
      </pc:sldChg>
      <pc:sldChg chg="modSp">
        <pc:chgData name="Satya Pandey" userId="S::satyakam@uchicago.edu::92e1f717-5e6d-4e12-a67c-78e3153684ce" providerId="AD" clId="Web-{0B8A92A5-806B-475B-A235-BE08590520AA}" dt="2020-06-08T20:13:52.435" v="58" actId="20577"/>
        <pc:sldMkLst>
          <pc:docMk/>
          <pc:sldMk cId="1290562296" sldId="536"/>
        </pc:sldMkLst>
        <pc:spChg chg="mod">
          <ac:chgData name="Satya Pandey" userId="S::satyakam@uchicago.edu::92e1f717-5e6d-4e12-a67c-78e3153684ce" providerId="AD" clId="Web-{0B8A92A5-806B-475B-A235-BE08590520AA}" dt="2020-06-08T20:13:52.435" v="58" actId="20577"/>
          <ac:spMkLst>
            <pc:docMk/>
            <pc:sldMk cId="1290562296" sldId="536"/>
            <ac:spMk id="2" creationId="{00000000-0000-0000-0000-000000000000}"/>
          </ac:spMkLst>
        </pc:spChg>
      </pc:sldChg>
      <pc:sldChg chg="modSp">
        <pc:chgData name="Satya Pandey" userId="S::satyakam@uchicago.edu::92e1f717-5e6d-4e12-a67c-78e3153684ce" providerId="AD" clId="Web-{0B8A92A5-806B-475B-A235-BE08590520AA}" dt="2020-06-08T20:10:36.245" v="24" actId="20577"/>
        <pc:sldMkLst>
          <pc:docMk/>
          <pc:sldMk cId="3740381052" sldId="537"/>
        </pc:sldMkLst>
        <pc:spChg chg="mod">
          <ac:chgData name="Satya Pandey" userId="S::satyakam@uchicago.edu::92e1f717-5e6d-4e12-a67c-78e3153684ce" providerId="AD" clId="Web-{0B8A92A5-806B-475B-A235-BE08590520AA}" dt="2020-06-08T20:10:36.245" v="24" actId="20577"/>
          <ac:spMkLst>
            <pc:docMk/>
            <pc:sldMk cId="3740381052" sldId="537"/>
            <ac:spMk id="2" creationId="{00000000-0000-0000-0000-000000000000}"/>
          </ac:spMkLst>
        </pc:spChg>
      </pc:sldChg>
      <pc:sldChg chg="modSp">
        <pc:chgData name="Satya Pandey" userId="S::satyakam@uchicago.edu::92e1f717-5e6d-4e12-a67c-78e3153684ce" providerId="AD" clId="Web-{0B8A92A5-806B-475B-A235-BE08590520AA}" dt="2020-06-08T20:47:43.519" v="85" actId="20577"/>
        <pc:sldMkLst>
          <pc:docMk/>
          <pc:sldMk cId="1062943973" sldId="539"/>
        </pc:sldMkLst>
        <pc:spChg chg="mod">
          <ac:chgData name="Satya Pandey" userId="S::satyakam@uchicago.edu::92e1f717-5e6d-4e12-a67c-78e3153684ce" providerId="AD" clId="Web-{0B8A92A5-806B-475B-A235-BE08590520AA}" dt="2020-06-08T20:47:43.519" v="85" actId="20577"/>
          <ac:spMkLst>
            <pc:docMk/>
            <pc:sldMk cId="1062943973" sldId="539"/>
            <ac:spMk id="4" creationId="{00000000-0000-0000-0000-000000000000}"/>
          </ac:spMkLst>
        </pc:spChg>
      </pc:sldChg>
      <pc:sldChg chg="modSp">
        <pc:chgData name="Satya Pandey" userId="S::satyakam@uchicago.edu::92e1f717-5e6d-4e12-a67c-78e3153684ce" providerId="AD" clId="Web-{0B8A92A5-806B-475B-A235-BE08590520AA}" dt="2020-06-08T20:13:40.091" v="49" actId="20577"/>
        <pc:sldMkLst>
          <pc:docMk/>
          <pc:sldMk cId="1439953467" sldId="540"/>
        </pc:sldMkLst>
        <pc:spChg chg="mod">
          <ac:chgData name="Satya Pandey" userId="S::satyakam@uchicago.edu::92e1f717-5e6d-4e12-a67c-78e3153684ce" providerId="AD" clId="Web-{0B8A92A5-806B-475B-A235-BE08590520AA}" dt="2020-06-08T20:13:40.091" v="49" actId="20577"/>
          <ac:spMkLst>
            <pc:docMk/>
            <pc:sldMk cId="1439953467" sldId="540"/>
            <ac:spMk id="2" creationId="{00000000-0000-0000-0000-000000000000}"/>
          </ac:spMkLst>
        </pc:spChg>
      </pc:sldChg>
      <pc:sldChg chg="modSp">
        <pc:chgData name="Satya Pandey" userId="S::satyakam@uchicago.edu::92e1f717-5e6d-4e12-a67c-78e3153684ce" providerId="AD" clId="Web-{0B8A92A5-806B-475B-A235-BE08590520AA}" dt="2020-06-08T20:10:57.167" v="33" actId="20577"/>
        <pc:sldMkLst>
          <pc:docMk/>
          <pc:sldMk cId="3347007030" sldId="544"/>
        </pc:sldMkLst>
        <pc:spChg chg="mod">
          <ac:chgData name="Satya Pandey" userId="S::satyakam@uchicago.edu::92e1f717-5e6d-4e12-a67c-78e3153684ce" providerId="AD" clId="Web-{0B8A92A5-806B-475B-A235-BE08590520AA}" dt="2020-06-08T20:10:57.167" v="33" actId="20577"/>
          <ac:spMkLst>
            <pc:docMk/>
            <pc:sldMk cId="3347007030" sldId="544"/>
            <ac:spMk id="2" creationId="{00000000-0000-0000-0000-000000000000}"/>
          </ac:spMkLst>
        </pc:spChg>
      </pc:sldChg>
      <pc:sldChg chg="modSp">
        <pc:chgData name="Satya Pandey" userId="S::satyakam@uchicago.edu::92e1f717-5e6d-4e12-a67c-78e3153684ce" providerId="AD" clId="Web-{0B8A92A5-806B-475B-A235-BE08590520AA}" dt="2020-06-08T20:14:05.544" v="69" actId="20577"/>
        <pc:sldMkLst>
          <pc:docMk/>
          <pc:sldMk cId="3175783303" sldId="546"/>
        </pc:sldMkLst>
        <pc:spChg chg="mod">
          <ac:chgData name="Satya Pandey" userId="S::satyakam@uchicago.edu::92e1f717-5e6d-4e12-a67c-78e3153684ce" providerId="AD" clId="Web-{0B8A92A5-806B-475B-A235-BE08590520AA}" dt="2020-06-08T20:14:05.544" v="69" actId="20577"/>
          <ac:spMkLst>
            <pc:docMk/>
            <pc:sldMk cId="3175783303" sldId="546"/>
            <ac:spMk id="2" creationId="{00000000-0000-0000-0000-000000000000}"/>
          </ac:spMkLst>
        </pc:spChg>
      </pc:sldChg>
      <pc:sldChg chg="modSp">
        <pc:chgData name="Satya Pandey" userId="S::satyakam@uchicago.edu::92e1f717-5e6d-4e12-a67c-78e3153684ce" providerId="AD" clId="Web-{0B8A92A5-806B-475B-A235-BE08590520AA}" dt="2020-06-08T20:14:20.060" v="80" actId="20577"/>
        <pc:sldMkLst>
          <pc:docMk/>
          <pc:sldMk cId="2032267524" sldId="547"/>
        </pc:sldMkLst>
        <pc:spChg chg="mod">
          <ac:chgData name="Satya Pandey" userId="S::satyakam@uchicago.edu::92e1f717-5e6d-4e12-a67c-78e3153684ce" providerId="AD" clId="Web-{0B8A92A5-806B-475B-A235-BE08590520AA}" dt="2020-06-08T20:14:20.060" v="80" actId="20577"/>
          <ac:spMkLst>
            <pc:docMk/>
            <pc:sldMk cId="2032267524" sldId="547"/>
            <ac:spMk id="2" creationId="{00000000-0000-0000-0000-000000000000}"/>
          </ac:spMkLst>
        </pc:spChg>
      </pc:sldChg>
    </pc:docChg>
  </pc:docChgLst>
  <pc:docChgLst>
    <pc:chgData name="Satya Pandey" userId="S::satyakam@uchicago.edu::92e1f717-5e6d-4e12-a67c-78e3153684ce" providerId="AD" clId="Web-{95E7F240-55E5-43C1-9773-0BF8DA3755F1}"/>
    <pc:docChg chg="modSld">
      <pc:chgData name="Satya Pandey" userId="S::satyakam@uchicago.edu::92e1f717-5e6d-4e12-a67c-78e3153684ce" providerId="AD" clId="Web-{95E7F240-55E5-43C1-9773-0BF8DA3755F1}" dt="2020-06-08T16:06:33.365" v="27" actId="20577"/>
      <pc:docMkLst>
        <pc:docMk/>
      </pc:docMkLst>
      <pc:sldChg chg="modSp">
        <pc:chgData name="Satya Pandey" userId="S::satyakam@uchicago.edu::92e1f717-5e6d-4e12-a67c-78e3153684ce" providerId="AD" clId="Web-{95E7F240-55E5-43C1-9773-0BF8DA3755F1}" dt="2020-06-08T16:06:33.365" v="27" actId="20577"/>
        <pc:sldMkLst>
          <pc:docMk/>
          <pc:sldMk cId="3170335522" sldId="533"/>
        </pc:sldMkLst>
        <pc:spChg chg="mod">
          <ac:chgData name="Satya Pandey" userId="S::satyakam@uchicago.edu::92e1f717-5e6d-4e12-a67c-78e3153684ce" providerId="AD" clId="Web-{95E7F240-55E5-43C1-9773-0BF8DA3755F1}" dt="2020-06-08T16:06:33.365" v="27" actId="20577"/>
          <ac:spMkLst>
            <pc:docMk/>
            <pc:sldMk cId="3170335522" sldId="533"/>
            <ac:spMk id="3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3D8DEE-7A99-D148-95CC-22B727447B66}" type="datetime1">
              <a:rPr lang="en-US" smtClean="0"/>
              <a:t>6/4/2021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7852B24-C5C9-5D41-8CC1-C45B31C0CD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875083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F972B9-BA4E-1044-96CD-9A1485C263C9}" type="datetime1">
              <a:rPr lang="en-US" smtClean="0"/>
              <a:t>6/4/2021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4076CD0-68A5-D14F-B096-5F94EC1655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3882118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Header Placeholder 3"/>
          <p:cNvSpPr>
            <a:spLocks noGrp="1"/>
          </p:cNvSpPr>
          <p:nvPr>
            <p:ph type="hdr" sz="quarter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idx="11"/>
          </p:nvPr>
        </p:nvSpPr>
        <p:spPr/>
        <p:txBody>
          <a:bodyPr/>
          <a:lstStyle/>
          <a:p>
            <a:fld id="{F6FF41E2-7C4C-6F44-BCBE-792648FAE7E7}" type="datetime1">
              <a:rPr lang="en-US" smtClean="0"/>
              <a:t>6/4/2021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fld id="{84076CD0-68A5-D14F-B096-5F94EC165503}" type="slidenum">
              <a:rPr lang="en-US" smtClean="0"/>
              <a:t>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37471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762000" y="5029200"/>
            <a:ext cx="10668000" cy="820550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4800" b="1" i="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Title is Arial Bold 48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762000" y="5950147"/>
            <a:ext cx="10668000" cy="450656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 b="0" i="0" baseline="0">
                <a:latin typeface="Arial" charset="0"/>
                <a:ea typeface="Arial" charset="0"/>
                <a:cs typeface="Arial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Subtitle is Arial 24</a:t>
            </a:r>
          </a:p>
        </p:txBody>
      </p:sp>
    </p:spTree>
    <p:extLst>
      <p:ext uri="{BB962C8B-B14F-4D97-AF65-F5344CB8AC3E}">
        <p14:creationId xmlns:p14="http://schemas.microsoft.com/office/powerpoint/2010/main" val="7242179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Whit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363537"/>
            <a:ext cx="10668000" cy="13255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000" b="1" i="0" baseline="0"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Slide Header is Arial Bold 40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62000" y="1825625"/>
            <a:ext cx="10668000" cy="3445622"/>
          </a:xfrm>
          <a:prstGeom prst="rect">
            <a:avLst/>
          </a:prstGeom>
        </p:spPr>
        <p:txBody>
          <a:bodyPr/>
          <a:lstStyle>
            <a:lvl1pPr>
              <a:defRPr b="0" i="0" baseline="0">
                <a:latin typeface="Arial" charset="0"/>
                <a:ea typeface="Arial" charset="0"/>
                <a:cs typeface="Arial" charset="0"/>
              </a:defRPr>
            </a:lvl1pPr>
            <a:lvl2pPr>
              <a:defRPr b="0" i="0">
                <a:latin typeface="Arial" charset="0"/>
                <a:ea typeface="Arial" charset="0"/>
                <a:cs typeface="Arial" charset="0"/>
              </a:defRPr>
            </a:lvl2pPr>
            <a:lvl3pPr>
              <a:defRPr b="0" i="0">
                <a:latin typeface="Arial" charset="0"/>
                <a:ea typeface="Arial" charset="0"/>
                <a:cs typeface="Arial" charset="0"/>
              </a:defRPr>
            </a:lvl3pPr>
            <a:lvl4pPr>
              <a:defRPr b="0" i="0">
                <a:latin typeface="Arial" charset="0"/>
                <a:ea typeface="Arial" charset="0"/>
                <a:cs typeface="Arial" charset="0"/>
              </a:defRPr>
            </a:lvl4pPr>
            <a:lvl5pPr>
              <a:defRPr b="0" i="0"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en-US"/>
              <a:t>Arial 28</a:t>
            </a:r>
          </a:p>
          <a:p>
            <a:pPr lvl="1"/>
            <a:r>
              <a:rPr lang="en-US"/>
              <a:t>Arial 24</a:t>
            </a:r>
          </a:p>
          <a:p>
            <a:pPr lvl="2"/>
            <a:r>
              <a:rPr lang="en-US"/>
              <a:t>Arial 20</a:t>
            </a:r>
          </a:p>
          <a:p>
            <a:pPr lvl="3"/>
            <a:r>
              <a:rPr lang="en-US"/>
              <a:t>Arial 18</a:t>
            </a:r>
          </a:p>
          <a:p>
            <a:pPr lvl="4"/>
            <a:r>
              <a:rPr lang="en-US"/>
              <a:t>Arial 18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091018" y="6356350"/>
            <a:ext cx="1490382" cy="365125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7836101D-EE4F-E14F-B986-E9B4B91F2B37}" type="datetime1">
              <a:rPr lang="en-US" smtClean="0"/>
              <a:pPr/>
              <a:t>6/4/2021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819400" cy="365125"/>
          </a:xfrm>
          <a:prstGeom prst="rect">
            <a:avLst/>
          </a:prstGeom>
        </p:spPr>
        <p:txBody>
          <a:bodyPr/>
          <a:lstStyle>
            <a:lvl1pPr algn="r"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ACECC8D6-1311-6F42-B063-A331488CED0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78224" y="6356350"/>
            <a:ext cx="4037076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[Click “View &gt; Header and Footer” to Edit]</a:t>
            </a:r>
          </a:p>
        </p:txBody>
      </p:sp>
    </p:spTree>
    <p:extLst>
      <p:ext uri="{BB962C8B-B14F-4D97-AF65-F5344CB8AC3E}">
        <p14:creationId xmlns:p14="http://schemas.microsoft.com/office/powerpoint/2010/main" val="214157743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904" userDrawn="1">
          <p15:clr>
            <a:srgbClr val="FBAE40"/>
          </p15:clr>
        </p15:guide>
        <p15:guide id="2" pos="7032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Maroon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7" name="Date Placeholder 3"/>
          <p:cNvSpPr>
            <a:spLocks noGrp="1"/>
          </p:cNvSpPr>
          <p:nvPr>
            <p:ph type="dt" sz="half" idx="10"/>
          </p:nvPr>
        </p:nvSpPr>
        <p:spPr>
          <a:xfrm>
            <a:off x="2091018" y="6356350"/>
            <a:ext cx="1490382" cy="365125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7836101D-EE4F-E14F-B986-E9B4B91F2B37}" type="datetime1">
              <a:rPr lang="en-US" smtClean="0"/>
              <a:pPr/>
              <a:t>6/4/2021</a:t>
            </a:fld>
            <a:endParaRPr lang="en-US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819400" cy="365125"/>
          </a:xfrm>
          <a:prstGeom prst="rect">
            <a:avLst/>
          </a:prstGeom>
        </p:spPr>
        <p:txBody>
          <a:bodyPr/>
          <a:lstStyle>
            <a:lvl1pPr algn="r"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ACECC8D6-1311-6F42-B063-A331488CED0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363537"/>
            <a:ext cx="10668000" cy="13255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Slide Header is Arial Bold 40</a:t>
            </a:r>
          </a:p>
        </p:txBody>
      </p:sp>
      <p:sp>
        <p:nvSpPr>
          <p:cNvPr id="12" name="Content Placeholder 2"/>
          <p:cNvSpPr>
            <a:spLocks noGrp="1"/>
          </p:cNvSpPr>
          <p:nvPr>
            <p:ph idx="1" hasCustomPrompt="1"/>
          </p:nvPr>
        </p:nvSpPr>
        <p:spPr>
          <a:xfrm>
            <a:off x="762000" y="1825625"/>
            <a:ext cx="10668000" cy="3445622"/>
          </a:xfrm>
          <a:prstGeom prst="rect">
            <a:avLst/>
          </a:prstGeom>
        </p:spPr>
        <p:txBody>
          <a:bodyPr/>
          <a:lstStyle>
            <a:lvl1pPr>
              <a:defRPr b="0" i="0" baseline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en-US"/>
              <a:t>Arial 28</a:t>
            </a:r>
          </a:p>
          <a:p>
            <a:pPr lvl="1"/>
            <a:r>
              <a:rPr lang="en-US"/>
              <a:t>Arial 24</a:t>
            </a:r>
          </a:p>
          <a:p>
            <a:pPr lvl="2"/>
            <a:r>
              <a:rPr lang="en-US"/>
              <a:t>Arial 20</a:t>
            </a:r>
          </a:p>
          <a:p>
            <a:pPr lvl="3"/>
            <a:r>
              <a:rPr lang="en-US"/>
              <a:t>Arial 18</a:t>
            </a:r>
          </a:p>
          <a:p>
            <a:pPr lvl="4"/>
            <a:r>
              <a:rPr lang="en-US"/>
              <a:t>Arial 18</a:t>
            </a:r>
          </a:p>
        </p:txBody>
      </p:sp>
      <p:sp>
        <p:nvSpPr>
          <p:cNvPr id="13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78224" y="6356350"/>
            <a:ext cx="4037076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[Click “View &gt; Header and Footer” to Edit]</a:t>
            </a:r>
          </a:p>
        </p:txBody>
      </p:sp>
    </p:spTree>
    <p:extLst>
      <p:ext uri="{BB962C8B-B14F-4D97-AF65-F5344CB8AC3E}">
        <p14:creationId xmlns:p14="http://schemas.microsoft.com/office/powerpoint/2010/main" val="17301794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/>
          <p:cNvSpPr>
            <a:spLocks noGrp="1"/>
          </p:cNvSpPr>
          <p:nvPr>
            <p:ph type="pic" sz="quarter" idx="13"/>
          </p:nvPr>
        </p:nvSpPr>
        <p:spPr>
          <a:xfrm>
            <a:off x="8115300" y="0"/>
            <a:ext cx="4076700" cy="62103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61" y="0"/>
            <a:ext cx="12192001" cy="6858001"/>
          </a:xfrm>
          <a:prstGeom prst="rect">
            <a:avLst/>
          </a:prstGeom>
        </p:spPr>
      </p:pic>
      <p:sp>
        <p:nvSpPr>
          <p:cNvPr id="7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363537"/>
            <a:ext cx="6629400" cy="132556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000" b="1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Slide Header is </a:t>
            </a:r>
            <a:br>
              <a:rPr lang="en-US"/>
            </a:br>
            <a:r>
              <a:rPr lang="en-US"/>
              <a:t>Arial Bold 40</a:t>
            </a:r>
          </a:p>
        </p:txBody>
      </p:sp>
      <p:sp>
        <p:nvSpPr>
          <p:cNvPr id="8" name="Content Placeholder 2"/>
          <p:cNvSpPr>
            <a:spLocks noGrp="1"/>
          </p:cNvSpPr>
          <p:nvPr>
            <p:ph idx="1" hasCustomPrompt="1"/>
          </p:nvPr>
        </p:nvSpPr>
        <p:spPr>
          <a:xfrm>
            <a:off x="762000" y="1825625"/>
            <a:ext cx="6629400" cy="3445622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en-US"/>
              <a:t>Arial 28</a:t>
            </a:r>
          </a:p>
          <a:p>
            <a:pPr lvl="1"/>
            <a:r>
              <a:rPr lang="en-US"/>
              <a:t>Arial 24</a:t>
            </a:r>
          </a:p>
          <a:p>
            <a:pPr lvl="2"/>
            <a:r>
              <a:rPr lang="en-US"/>
              <a:t>Arial 20</a:t>
            </a:r>
          </a:p>
          <a:p>
            <a:pPr lvl="3"/>
            <a:r>
              <a:rPr lang="en-US"/>
              <a:t>Arial 18</a:t>
            </a:r>
          </a:p>
          <a:p>
            <a:pPr lvl="4"/>
            <a:r>
              <a:rPr lang="en-US"/>
              <a:t>Arial 18</a:t>
            </a:r>
          </a:p>
        </p:txBody>
      </p:sp>
      <p:sp>
        <p:nvSpPr>
          <p:cNvPr id="16" name="Date Placeholder 3"/>
          <p:cNvSpPr>
            <a:spLocks noGrp="1"/>
          </p:cNvSpPr>
          <p:nvPr>
            <p:ph type="dt" sz="half" idx="10"/>
          </p:nvPr>
        </p:nvSpPr>
        <p:spPr>
          <a:xfrm>
            <a:off x="2091018" y="6356350"/>
            <a:ext cx="1490382" cy="365125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7836101D-EE4F-E14F-B986-E9B4B91F2B37}" type="datetime1">
              <a:rPr lang="en-US" smtClean="0"/>
              <a:pPr/>
              <a:t>6/4/2021</a:t>
            </a:fld>
            <a:endParaRPr lang="en-US"/>
          </a:p>
        </p:txBody>
      </p:sp>
      <p:sp>
        <p:nvSpPr>
          <p:cNvPr id="17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819400" cy="365125"/>
          </a:xfrm>
          <a:prstGeom prst="rect">
            <a:avLst/>
          </a:prstGeom>
        </p:spPr>
        <p:txBody>
          <a:bodyPr/>
          <a:lstStyle>
            <a:lvl1pPr algn="r"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ACECC8D6-1311-6F42-B063-A331488CED0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78224" y="6356350"/>
            <a:ext cx="4037076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[Click “View &gt; Header and Footer” to Edit]</a:t>
            </a:r>
          </a:p>
        </p:txBody>
      </p:sp>
    </p:spTree>
    <p:extLst>
      <p:ext uri="{BB962C8B-B14F-4D97-AF65-F5344CB8AC3E}">
        <p14:creationId xmlns:p14="http://schemas.microsoft.com/office/powerpoint/2010/main" val="16651806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5112" userDrawn="1">
          <p15:clr>
            <a:srgbClr val="FBAE40"/>
          </p15:clr>
        </p15:guide>
        <p15:guide id="3" orient="horz" pos="3912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Photo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-5556"/>
            <a:ext cx="12201877" cy="6863556"/>
          </a:xfrm>
          <a:prstGeom prst="rect">
            <a:avLst/>
          </a:prstGeom>
        </p:spPr>
      </p:pic>
      <p:sp>
        <p:nvSpPr>
          <p:cNvPr id="20" name="Picture Placeholder 19"/>
          <p:cNvSpPr>
            <a:spLocks noGrp="1"/>
          </p:cNvSpPr>
          <p:nvPr>
            <p:ph type="pic" sz="quarter" idx="13"/>
          </p:nvPr>
        </p:nvSpPr>
        <p:spPr>
          <a:xfrm>
            <a:off x="0" y="-4763"/>
            <a:ext cx="12192000" cy="2301956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2" name="Title 1"/>
          <p:cNvSpPr>
            <a:spLocks noGrp="1"/>
          </p:cNvSpPr>
          <p:nvPr>
            <p:ph type="title" hasCustomPrompt="1"/>
          </p:nvPr>
        </p:nvSpPr>
        <p:spPr>
          <a:xfrm>
            <a:off x="762000" y="2654462"/>
            <a:ext cx="10668000" cy="590183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4000" b="1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Slide Header is Arial Bold 40</a:t>
            </a:r>
          </a:p>
        </p:txBody>
      </p:sp>
      <p:sp>
        <p:nvSpPr>
          <p:cNvPr id="13" name="Content Placeholder 2"/>
          <p:cNvSpPr>
            <a:spLocks noGrp="1"/>
          </p:cNvSpPr>
          <p:nvPr>
            <p:ph idx="1" hasCustomPrompt="1"/>
          </p:nvPr>
        </p:nvSpPr>
        <p:spPr>
          <a:xfrm>
            <a:off x="762000" y="3382297"/>
            <a:ext cx="10668000" cy="1888949"/>
          </a:xfrm>
          <a:prstGeom prst="rect">
            <a:avLst/>
          </a:prstGeom>
        </p:spPr>
        <p:txBody>
          <a:bodyPr/>
          <a:lstStyle>
            <a:lvl1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1pPr>
            <a:lvl2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2pPr>
            <a:lvl3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3pPr>
            <a:lvl4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4pPr>
            <a:lvl5pPr>
              <a:defRPr b="0" i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defRPr>
            </a:lvl5pPr>
          </a:lstStyle>
          <a:p>
            <a:pPr lvl="0"/>
            <a:r>
              <a:rPr lang="en-US"/>
              <a:t>Arial 28</a:t>
            </a:r>
          </a:p>
          <a:p>
            <a:pPr lvl="1"/>
            <a:r>
              <a:rPr lang="en-US"/>
              <a:t>Arial 24</a:t>
            </a:r>
          </a:p>
          <a:p>
            <a:pPr lvl="2"/>
            <a:r>
              <a:rPr lang="en-US"/>
              <a:t>Arial 20</a:t>
            </a:r>
          </a:p>
          <a:p>
            <a:pPr lvl="3"/>
            <a:r>
              <a:rPr lang="en-US"/>
              <a:t>Arial 18</a:t>
            </a:r>
          </a:p>
          <a:p>
            <a:pPr lvl="4"/>
            <a:r>
              <a:rPr lang="en-US"/>
              <a:t>Arial 18</a:t>
            </a:r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10"/>
          </p:nvPr>
        </p:nvSpPr>
        <p:spPr>
          <a:xfrm>
            <a:off x="2091018" y="6356350"/>
            <a:ext cx="1490382" cy="365125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7836101D-EE4F-E14F-B986-E9B4B91F2B37}" type="datetime1">
              <a:rPr lang="en-US" smtClean="0"/>
              <a:pPr/>
              <a:t>6/4/2021</a:t>
            </a:fld>
            <a:endParaRPr lang="en-US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819400" cy="365125"/>
          </a:xfrm>
          <a:prstGeom prst="rect">
            <a:avLst/>
          </a:prstGeom>
        </p:spPr>
        <p:txBody>
          <a:bodyPr/>
          <a:lstStyle>
            <a:lvl1pPr algn="r"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ACECC8D6-1311-6F42-B063-A331488CED0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78224" y="6356350"/>
            <a:ext cx="4037076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[Click “View &gt; Header and Footer” to Edit]</a:t>
            </a:r>
          </a:p>
        </p:txBody>
      </p:sp>
    </p:spTree>
    <p:extLst>
      <p:ext uri="{BB962C8B-B14F-4D97-AF65-F5344CB8AC3E}">
        <p14:creationId xmlns:p14="http://schemas.microsoft.com/office/powerpoint/2010/main" val="497840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/>
          <p:cNvSpPr>
            <a:spLocks noGrp="1"/>
          </p:cNvSpPr>
          <p:nvPr>
            <p:ph type="pic" sz="quarter" idx="13"/>
          </p:nvPr>
        </p:nvSpPr>
        <p:spPr>
          <a:xfrm>
            <a:off x="8115300" y="0"/>
            <a:ext cx="4076700" cy="62103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3" name="Picture Placeholder 13"/>
          <p:cNvSpPr>
            <a:spLocks noGrp="1"/>
          </p:cNvSpPr>
          <p:nvPr>
            <p:ph type="pic" sz="quarter" idx="14"/>
          </p:nvPr>
        </p:nvSpPr>
        <p:spPr>
          <a:xfrm>
            <a:off x="4078224" y="0"/>
            <a:ext cx="4037076" cy="62103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4" name="Picture Placeholder 13"/>
          <p:cNvSpPr>
            <a:spLocks noGrp="1"/>
          </p:cNvSpPr>
          <p:nvPr>
            <p:ph type="pic" sz="quarter" idx="15"/>
          </p:nvPr>
        </p:nvSpPr>
        <p:spPr>
          <a:xfrm>
            <a:off x="0" y="0"/>
            <a:ext cx="4078224" cy="62103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7" name="Date Placeholder 3"/>
          <p:cNvSpPr>
            <a:spLocks noGrp="1"/>
          </p:cNvSpPr>
          <p:nvPr>
            <p:ph type="dt" sz="half" idx="10"/>
          </p:nvPr>
        </p:nvSpPr>
        <p:spPr>
          <a:xfrm>
            <a:off x="2091018" y="6356350"/>
            <a:ext cx="1490382" cy="365125"/>
          </a:xfrm>
          <a:prstGeom prst="rect">
            <a:avLst/>
          </a:prstGeom>
        </p:spPr>
        <p:txBody>
          <a:bodyPr/>
          <a:lstStyle>
            <a:lvl1pPr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7836101D-EE4F-E14F-B986-E9B4B91F2B37}" type="datetime1">
              <a:rPr lang="en-US" smtClean="0"/>
              <a:pPr/>
              <a:t>6/4/2021</a:t>
            </a:fld>
            <a:endParaRPr lang="en-US"/>
          </a:p>
        </p:txBody>
      </p:sp>
      <p:sp>
        <p:nvSpPr>
          <p:cNvPr id="18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819400" cy="365125"/>
          </a:xfrm>
          <a:prstGeom prst="rect">
            <a:avLst/>
          </a:prstGeom>
        </p:spPr>
        <p:txBody>
          <a:bodyPr/>
          <a:lstStyle>
            <a:lvl1pPr algn="r"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fld id="{ACECC8D6-1311-6F42-B063-A331488CED0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78224" y="6356350"/>
            <a:ext cx="4037076" cy="365125"/>
          </a:xfrm>
          <a:prstGeom prst="rect">
            <a:avLst/>
          </a:prstGeom>
        </p:spPr>
        <p:txBody>
          <a:bodyPr/>
          <a:lstStyle>
            <a:lvl1pPr algn="ctr">
              <a:defRPr sz="1400">
                <a:solidFill>
                  <a:schemeClr val="bg2">
                    <a:lumMod val="75000"/>
                  </a:schemeClr>
                </a:solidFill>
                <a:latin typeface="Arial" charset="0"/>
                <a:ea typeface="Arial" charset="0"/>
                <a:cs typeface="Arial" charset="0"/>
              </a:defRPr>
            </a:lvl1pPr>
          </a:lstStyle>
          <a:p>
            <a:r>
              <a:rPr lang="en-US"/>
              <a:t>[Click “View &gt; Header and Footer” to Edit]</a:t>
            </a:r>
          </a:p>
        </p:txBody>
      </p:sp>
    </p:spTree>
    <p:extLst>
      <p:ext uri="{BB962C8B-B14F-4D97-AF65-F5344CB8AC3E}">
        <p14:creationId xmlns:p14="http://schemas.microsoft.com/office/powerpoint/2010/main" val="1666009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12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70540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4" r:id="rId4"/>
    <p:sldLayoutId id="2147483653" r:id="rId5"/>
    <p:sldLayoutId id="2147483651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 txBox="1">
            <a:spLocks/>
          </p:cNvSpPr>
          <p:nvPr/>
        </p:nvSpPr>
        <p:spPr>
          <a:xfrm>
            <a:off x="95250" y="5104546"/>
            <a:ext cx="6113526" cy="137307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800" b="1" dirty="0">
                <a:solidFill>
                  <a:sysClr val="windowText" lastClr="000000"/>
                </a:solidFill>
                <a:latin typeface="Trebuchet MS" panose="020B0603020202020204"/>
              </a:rPr>
              <a:t>Forecasting monthly jobs growth</a:t>
            </a:r>
            <a:endParaRPr kumimoji="0" lang="en-US" sz="4800" b="1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Trebuchet MS" panose="020B0603020202020204"/>
              <a:ea typeface="+mj-ea"/>
              <a:cs typeface="+mj-cs"/>
            </a:endParaRPr>
          </a:p>
        </p:txBody>
      </p:sp>
      <p:sp>
        <p:nvSpPr>
          <p:cNvPr id="9" name="Subtitle 2"/>
          <p:cNvSpPr txBox="1">
            <a:spLocks/>
          </p:cNvSpPr>
          <p:nvPr/>
        </p:nvSpPr>
        <p:spPr>
          <a:xfrm>
            <a:off x="5210175" y="5359929"/>
            <a:ext cx="6805156" cy="111768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effectLst>
                  <a:outerShdw blurRad="228600" algn="ctr" rotWithShape="0">
                    <a:prstClr val="black">
                      <a:alpha val="53000"/>
                    </a:prst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effectLst>
                  <a:outerShdw blurRad="228600" algn="ctr" rotWithShape="0">
                    <a:prstClr val="black">
                      <a:alpha val="53000"/>
                    </a:prst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effectLst>
                  <a:outerShdw blurRad="228600" algn="ctr" rotWithShape="0">
                    <a:prstClr val="black">
                      <a:alpha val="53000"/>
                    </a:prst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>
                  <a:outerShdw blurRad="228600" algn="ctr" rotWithShape="0">
                    <a:prstClr val="black">
                      <a:alpha val="53000"/>
                    </a:prst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effectLst>
                  <a:outerShdw blurRad="228600" algn="ctr" rotWithShape="0">
                    <a:prstClr val="black">
                      <a:alpha val="53000"/>
                    </a:prst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rebuchet MS" panose="020B0603020202020204"/>
                <a:ea typeface="+mn-ea"/>
                <a:cs typeface="+mn-cs"/>
              </a:rPr>
              <a:t>MSCA31006 Time Series Analysis and Forecasting</a:t>
            </a:r>
          </a:p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rebuchet MS" panose="020B0603020202020204"/>
                <a:ea typeface="+mn-ea"/>
                <a:cs typeface="+mn-cs"/>
              </a:rPr>
              <a:t>Instructor : Arnab Bose, Ph.D.</a:t>
            </a:r>
          </a:p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rebuchet MS" panose="020B0603020202020204"/>
                <a:ea typeface="+mn-ea"/>
                <a:cs typeface="+mn-cs"/>
              </a:rPr>
              <a:t>Group 10 : Ross Cole, Connor O’Brien,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rebuchet MS" panose="020B0603020202020204"/>
                <a:ea typeface="+mn-ea"/>
                <a:cs typeface="+mn-cs"/>
              </a:rPr>
              <a:t>Zakir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rebuchet MS" panose="020B0603020202020204"/>
                <a:ea typeface="+mn-ea"/>
                <a:cs typeface="+mn-cs"/>
              </a:rPr>
              <a:t>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ysClr val="windowText" lastClr="0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Trebuchet MS" panose="020B0603020202020204"/>
                <a:ea typeface="+mn-ea"/>
                <a:cs typeface="+mn-cs"/>
              </a:rPr>
              <a:t>Bekenov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ysClr val="windowText" lastClr="0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Trebuchet MS" panose="020B0603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131426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Problem statement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762000" y="983456"/>
            <a:ext cx="6800850" cy="2432796"/>
          </a:xfrm>
        </p:spPr>
        <p:txBody>
          <a:bodyPr/>
          <a:lstStyle/>
          <a:p>
            <a:pPr marL="0" indent="0">
              <a:buNone/>
            </a:pPr>
            <a:r>
              <a:rPr lang="en-US" sz="1600" dirty="0"/>
              <a:t>On the first Friday of each month, the Bureau of Labor Statistics (BLS) releases employment, or jobs numbers, for the previous month</a:t>
            </a:r>
          </a:p>
          <a:p>
            <a:pPr marL="0" indent="0">
              <a:buNone/>
            </a:pPr>
            <a:r>
              <a:rPr lang="en-US" sz="1600" dirty="0"/>
              <a:t>These numbers are critical in assessing the state of the economy and researchers often try to forecast what the job numbers will be </a:t>
            </a:r>
            <a:r>
              <a:rPr lang="en-US" sz="1600" i="1" dirty="0"/>
              <a:t>in the future</a:t>
            </a:r>
            <a:r>
              <a:rPr lang="en-US" sz="1600" dirty="0"/>
              <a:t>. </a:t>
            </a:r>
          </a:p>
          <a:p>
            <a:pPr marL="0" indent="0">
              <a:buNone/>
            </a:pPr>
            <a:r>
              <a:rPr lang="en-US" sz="1600" dirty="0"/>
              <a:t>Such information is used by policy makers in assessing where the economy </a:t>
            </a:r>
            <a:r>
              <a:rPr lang="en-US" sz="1600" i="1" dirty="0"/>
              <a:t>will</a:t>
            </a:r>
            <a:r>
              <a:rPr lang="en-US" sz="1600" dirty="0"/>
              <a:t> be, and by other entities such as hedge funds and other financial institutions in trading.</a:t>
            </a:r>
          </a:p>
          <a:p>
            <a:pPr marL="0" indent="0">
              <a:buNone/>
            </a:pPr>
            <a:r>
              <a:rPr lang="en-US" sz="1600" dirty="0"/>
              <a:t>This problem has been further complicated by the pandemic – the lowest jobs growth since the great depression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101D-EE4F-E14F-B986-E9B4B91F2B37}" type="datetime1">
              <a:rPr lang="en-US" smtClean="0"/>
              <a:pPr/>
              <a:t>6/4/2021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CC8D6-1311-6F42-B063-A331488CED07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[Click “View &gt; Header and Footer” to Edit]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363537"/>
            <a:ext cx="3362325" cy="24622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We test three separate models and assess how each performs historically (i.e., pre-pandemic) and currently</a:t>
            </a:r>
          </a:p>
          <a:p>
            <a:endParaRPr lang="en-US" sz="1400" dirty="0"/>
          </a:p>
          <a:p>
            <a:pPr marL="342900" indent="-342900">
              <a:buAutoNum type="arabicPeriod"/>
            </a:pPr>
            <a:r>
              <a:rPr lang="en-US" sz="1400" dirty="0"/>
              <a:t>Statistical model:</a:t>
            </a:r>
          </a:p>
          <a:p>
            <a:pPr marL="342900" indent="-342900">
              <a:buAutoNum type="arabicPeriod"/>
            </a:pPr>
            <a:r>
              <a:rPr lang="en-US" sz="1400" dirty="0"/>
              <a:t>Curve-fitting model:</a:t>
            </a:r>
          </a:p>
          <a:p>
            <a:pPr marL="342900" indent="-342900">
              <a:buAutoNum type="arabicPeriod"/>
            </a:pPr>
            <a:r>
              <a:rPr lang="en-US" sz="1400" dirty="0"/>
              <a:t>Deep learning model:</a:t>
            </a:r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  <a:p>
            <a:endParaRPr lang="en-US" sz="1400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91018" y="3717131"/>
            <a:ext cx="5205132" cy="2140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64205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761999" y="363537"/>
            <a:ext cx="7353301" cy="619919"/>
          </a:xfrm>
        </p:spPr>
        <p:txBody>
          <a:bodyPr>
            <a:normAutofit/>
          </a:bodyPr>
          <a:lstStyle/>
          <a:p>
            <a:r>
              <a:rPr lang="en-US" sz="2800" dirty="0"/>
              <a:t>Assumptions &amp; Hypotheses about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762000" y="983456"/>
            <a:ext cx="6800850" cy="4674394"/>
          </a:xfrm>
        </p:spPr>
        <p:txBody>
          <a:bodyPr/>
          <a:lstStyle/>
          <a:p>
            <a:r>
              <a:rPr lang="en-US" sz="2400" dirty="0"/>
              <a:t>Many factors determine employment in a given month</a:t>
            </a:r>
          </a:p>
          <a:p>
            <a:r>
              <a:rPr lang="en-US" sz="2400" dirty="0"/>
              <a:t>One of the most important is where we are in the business cycle (i.e., are we in a recession?) </a:t>
            </a:r>
          </a:p>
          <a:p>
            <a:pPr lvl="1"/>
            <a:r>
              <a:rPr lang="en-US" sz="1800" dirty="0"/>
              <a:t>Recessions are cyclical, but don’t have a specific periodicity</a:t>
            </a:r>
          </a:p>
          <a:p>
            <a:r>
              <a:rPr lang="en-US" sz="2400" dirty="0"/>
              <a:t>Thus, a curve fitting model might be most suitable – STL – where every cycle may not have the same period.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101D-EE4F-E14F-B986-E9B4B91F2B37}" type="datetime1">
              <a:rPr lang="en-US" smtClean="0"/>
              <a:pPr/>
              <a:t>6/4/2021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CC8D6-1311-6F42-B063-A331488CED07}" type="slidenum">
              <a:rPr lang="en-US" smtClean="0"/>
              <a:pPr/>
              <a:t>2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[Click “View &gt; Header and Footer” to Edit]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1537" y="295274"/>
            <a:ext cx="3193234" cy="2638425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8146" y="3743325"/>
            <a:ext cx="3476625" cy="2019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6646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85724" y="289803"/>
            <a:ext cx="8524876" cy="619919"/>
          </a:xfrm>
        </p:spPr>
        <p:txBody>
          <a:bodyPr>
            <a:normAutofit fontScale="90000"/>
          </a:bodyPr>
          <a:lstStyle/>
          <a:p>
            <a:r>
              <a:rPr lang="en-US" sz="2800" dirty="0"/>
              <a:t>Data properties, processing &amp; Feature engineering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762000" y="983456"/>
            <a:ext cx="6800850" cy="4674394"/>
          </a:xfrm>
        </p:spPr>
        <p:txBody>
          <a:bodyPr/>
          <a:lstStyle/>
          <a:p>
            <a:r>
              <a:rPr lang="en-US" sz="2400" dirty="0"/>
              <a:t>We pull all of the necessary data from FRED</a:t>
            </a:r>
          </a:p>
          <a:p>
            <a:pPr lvl="1"/>
            <a:r>
              <a:rPr lang="en-US" sz="2000" dirty="0"/>
              <a:t>The Federal Reserve Bank of St. Louis’ widely used data base and </a:t>
            </a:r>
            <a:r>
              <a:rPr lang="en-US" sz="2000" dirty="0" smtClean="0"/>
              <a:t>API</a:t>
            </a:r>
          </a:p>
          <a:p>
            <a:pPr lvl="1"/>
            <a:r>
              <a:rPr lang="en-US" sz="2000" dirty="0" smtClean="0"/>
              <a:t>Series history going back to 1940</a:t>
            </a:r>
            <a:endParaRPr lang="en-US" sz="2000" dirty="0"/>
          </a:p>
          <a:p>
            <a:r>
              <a:rPr lang="en-US" dirty="0"/>
              <a:t>The </a:t>
            </a:r>
            <a:r>
              <a:rPr lang="en-US" i="1" dirty="0"/>
              <a:t>level </a:t>
            </a:r>
            <a:r>
              <a:rPr lang="en-US" dirty="0"/>
              <a:t>of employment is clearly non-stationary</a:t>
            </a:r>
          </a:p>
          <a:p>
            <a:pPr lvl="1"/>
            <a:r>
              <a:rPr lang="en-US" dirty="0"/>
              <a:t>Strong upward drift</a:t>
            </a:r>
          </a:p>
          <a:p>
            <a:pPr lvl="1"/>
            <a:r>
              <a:rPr lang="en-US" dirty="0"/>
              <a:t>Seasonal component</a:t>
            </a:r>
          </a:p>
          <a:p>
            <a:pPr lvl="1"/>
            <a:r>
              <a:rPr lang="en-US" dirty="0"/>
              <a:t>Cyclical component – where cycles are of undefined periodicity</a:t>
            </a:r>
          </a:p>
          <a:p>
            <a:r>
              <a:rPr lang="en-US" sz="2400" dirty="0"/>
              <a:t>But the first difference &amp; log first difference are stationary</a:t>
            </a:r>
          </a:p>
          <a:p>
            <a:endParaRPr lang="en-US" sz="2400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101D-EE4F-E14F-B986-E9B4B91F2B37}" type="datetime1">
              <a:rPr lang="en-US" smtClean="0"/>
              <a:pPr/>
              <a:t>6/4/2021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CC8D6-1311-6F42-B063-A331488CED07}" type="slidenum">
              <a:rPr lang="en-US" smtClean="0"/>
              <a:pPr/>
              <a:t>3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[Click “View &gt; Header and Footer” to Edit]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363537"/>
            <a:ext cx="33623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400" dirty="0"/>
          </a:p>
          <a:p>
            <a:endParaRPr lang="en-US" sz="1400" dirty="0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10600" y="269845"/>
            <a:ext cx="2628900" cy="1123950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5439" y="3320653"/>
            <a:ext cx="3789721" cy="276238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9113" y="1552605"/>
            <a:ext cx="3681412" cy="2438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1518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Statistical model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762000" y="1194499"/>
            <a:ext cx="6629400" cy="3392551"/>
          </a:xfrm>
        </p:spPr>
        <p:txBody>
          <a:bodyPr/>
          <a:lstStyle/>
          <a:p>
            <a:r>
              <a:rPr lang="en-US" sz="2000" dirty="0"/>
              <a:t>We use a VAR(2) of employment, the Chicago Fed Financial Conditions Index, Industrial Production, Population, the ten-year Treasury yield, the 2-10 yield spread, the price level, and a binary recession indicator. </a:t>
            </a:r>
          </a:p>
          <a:p>
            <a:r>
              <a:rPr lang="en-US" sz="2000" dirty="0"/>
              <a:t>Back-testing this method, we find it is relatively accurate. It projected 2.2 million jobs added in 2019, compared to the actual 1.8. </a:t>
            </a:r>
          </a:p>
          <a:p>
            <a:r>
              <a:rPr lang="en-US" sz="2000" dirty="0"/>
              <a:t>However, the forward-looking forecasts projects the economy to lose 1.6 million jobs over the next year, which is extremely unlikely. </a:t>
            </a:r>
          </a:p>
          <a:p>
            <a:r>
              <a:rPr lang="en-US" sz="2000" dirty="0"/>
              <a:t>Here we see the shock of COVID making this a poor model. </a:t>
            </a:r>
          </a:p>
          <a:p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101D-EE4F-E14F-B986-E9B4B91F2B37}" type="datetime1">
              <a:rPr lang="en-US" smtClean="0"/>
              <a:pPr/>
              <a:t>6/4/2021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CC8D6-1311-6F42-B063-A331488CED07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[Click “View &gt; Header and Footer” to Edit]</a:t>
            </a:r>
          </a:p>
        </p:txBody>
      </p:sp>
      <p:pic>
        <p:nvPicPr>
          <p:cNvPr id="19" name="Picture 18" descr="Chart&#10;&#10;Description automatically generated">
            <a:extLst>
              <a:ext uri="{FF2B5EF4-FFF2-40B4-BE49-F238E27FC236}">
                <a16:creationId xmlns:a16="http://schemas.microsoft.com/office/drawing/2014/main" id="{652347DC-2251-524B-B156-5AA0BAD77B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1806" y="638629"/>
            <a:ext cx="4955673" cy="265457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633D4770-8B1F-244A-AE95-7E9E227FCE44}"/>
              </a:ext>
            </a:extLst>
          </p:cNvPr>
          <p:cNvSpPr txBox="1"/>
          <p:nvPr/>
        </p:nvSpPr>
        <p:spPr>
          <a:xfrm>
            <a:off x="8824632" y="3329735"/>
            <a:ext cx="17100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Vs. Back-tested: </a:t>
            </a:r>
          </a:p>
        </p:txBody>
      </p:sp>
      <p:pic>
        <p:nvPicPr>
          <p:cNvPr id="22" name="Picture 21" descr="Chart, line chart&#10;&#10;Description automatically generated">
            <a:extLst>
              <a:ext uri="{FF2B5EF4-FFF2-40B4-BE49-F238E27FC236}">
                <a16:creationId xmlns:a16="http://schemas.microsoft.com/office/drawing/2014/main" id="{C3A1F621-28F6-FE40-A2D9-D7E8E776F27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6927"/>
          <a:stretch/>
        </p:blipFill>
        <p:spPr>
          <a:xfrm>
            <a:off x="7201805" y="3735596"/>
            <a:ext cx="5022225" cy="2620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36352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Curve fitting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533400" y="1295273"/>
            <a:ext cx="6629400" cy="3445622"/>
          </a:xfrm>
        </p:spPr>
        <p:txBody>
          <a:bodyPr/>
          <a:lstStyle/>
          <a:p>
            <a:r>
              <a:rPr lang="en-US" sz="2000" dirty="0"/>
              <a:t>Seasonal Trend decomposition using Loess (STL)</a:t>
            </a:r>
          </a:p>
          <a:p>
            <a:pPr lvl="1"/>
            <a:r>
              <a:rPr lang="en-US" sz="1800" dirty="0"/>
              <a:t>Employment depends on many factors, one being business cycles/recessions</a:t>
            </a:r>
          </a:p>
          <a:p>
            <a:pPr lvl="1"/>
            <a:r>
              <a:rPr lang="en-US" sz="1800" dirty="0"/>
              <a:t>Not all have the same period/seasonal component fluctuates over time</a:t>
            </a:r>
          </a:p>
          <a:p>
            <a:pPr lvl="1"/>
            <a:r>
              <a:rPr lang="en-US" sz="1800" dirty="0"/>
              <a:t>Makes this a good candidate </a:t>
            </a:r>
            <a:endParaRPr lang="en-US" sz="1800" dirty="0" smtClean="0"/>
          </a:p>
          <a:p>
            <a:r>
              <a:rPr lang="en-US" sz="2000" dirty="0" smtClean="0"/>
              <a:t>This model projected 2.2 million jobs added for 2019</a:t>
            </a:r>
          </a:p>
          <a:p>
            <a:pPr lvl="1"/>
            <a:r>
              <a:rPr lang="en-US" sz="1600" dirty="0" smtClean="0"/>
              <a:t>Versus actual change of 1.8 million</a:t>
            </a:r>
          </a:p>
          <a:p>
            <a:r>
              <a:rPr lang="en-US" sz="2000" dirty="0" smtClean="0"/>
              <a:t>Projected 2.2 million for 2020</a:t>
            </a:r>
          </a:p>
          <a:p>
            <a:pPr lvl="1"/>
            <a:r>
              <a:rPr lang="en-US" sz="1600" dirty="0" smtClean="0"/>
              <a:t>Versus actual change of -9.7 million</a:t>
            </a:r>
          </a:p>
          <a:p>
            <a:r>
              <a:rPr lang="en-US" sz="2000" dirty="0" smtClean="0"/>
              <a:t>Projected 0.9 million for 2021</a:t>
            </a:r>
          </a:p>
          <a:p>
            <a:pPr lvl="1"/>
            <a:r>
              <a:rPr lang="en-US" sz="1600" dirty="0" smtClean="0"/>
              <a:t>Versus actual change of 2.2 million</a:t>
            </a:r>
          </a:p>
          <a:p>
            <a:pPr marL="457200" lvl="1" indent="0">
              <a:buNone/>
            </a:pPr>
            <a:endParaRPr lang="en-US" sz="1600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101D-EE4F-E14F-B986-E9B4B91F2B37}" type="datetime1">
              <a:rPr lang="en-US" smtClean="0"/>
              <a:pPr/>
              <a:t>6/4/2021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CC8D6-1311-6F42-B063-A331488CED07}" type="slidenum">
              <a:rPr lang="en-US" smtClean="0"/>
              <a:pPr/>
              <a:t>5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[Click “View &gt; Header and Footer” to Edit]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900" y="300544"/>
            <a:ext cx="5162550" cy="3255461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0901" y="3653131"/>
            <a:ext cx="4152900" cy="2898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4321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STL decomposition</a:t>
            </a:r>
            <a:endParaRPr lang="en-US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1449" y="1689100"/>
            <a:ext cx="5672545" cy="3561641"/>
          </a:xfrm>
          <a:prstGeom prst="rect">
            <a:avLst/>
          </a:prstGeom>
        </p:spPr>
      </p:pic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101D-EE4F-E14F-B986-E9B4B91F2B37}" type="datetime1">
              <a:rPr lang="en-US" smtClean="0"/>
              <a:pPr/>
              <a:t>6/4/2021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CC8D6-1311-6F42-B063-A331488CED07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[Click “View &gt; Header and Footer” to Edit]</a:t>
            </a:r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32049" y="1689100"/>
            <a:ext cx="5720196" cy="35925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81294" y="1319768"/>
            <a:ext cx="3071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Data through 2018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843994" y="1338302"/>
            <a:ext cx="30717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solidFill>
                  <a:schemeClr val="bg1"/>
                </a:solidFill>
              </a:rPr>
              <a:t>Data through 2021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484400" y="5615582"/>
            <a:ext cx="307179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Notice how spikes in the irregular component line up closely with recessions</a:t>
            </a:r>
            <a:endParaRPr lang="en-US" dirty="0"/>
          </a:p>
        </p:txBody>
      </p:sp>
      <p:cxnSp>
        <p:nvCxnSpPr>
          <p:cNvPr id="14" name="Straight Arrow Connector 13"/>
          <p:cNvCxnSpPr/>
          <p:nvPr/>
        </p:nvCxnSpPr>
        <p:spPr>
          <a:xfrm flipV="1">
            <a:off x="10267950" y="4533900"/>
            <a:ext cx="657225" cy="104069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403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/>
          <p:cNvSpPr>
            <a:spLocks noGrp="1"/>
          </p:cNvSpPr>
          <p:nvPr>
            <p:ph type="pic" sz="quarter" idx="13"/>
          </p:nvPr>
        </p:nvSpPr>
        <p:spPr>
          <a:xfrm>
            <a:off x="8115300" y="0"/>
            <a:ext cx="4076700" cy="6210300"/>
          </a:xfrm>
        </p:spPr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Deep learning model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INFO ON DEEP LEARNING MODEL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101D-EE4F-E14F-B986-E9B4B91F2B37}" type="datetime1">
              <a:rPr lang="en-US" smtClean="0"/>
              <a:pPr/>
              <a:t>6/4/2021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CC8D6-1311-6F42-B063-A331488CED07}" type="slidenum">
              <a:rPr lang="en-US" smtClean="0"/>
              <a:pPr/>
              <a:t>7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[Click “View &gt; Header and Footer” to Edit]</a:t>
            </a:r>
          </a:p>
        </p:txBody>
      </p:sp>
    </p:spTree>
    <p:extLst>
      <p:ext uri="{BB962C8B-B14F-4D97-AF65-F5344CB8AC3E}">
        <p14:creationId xmlns:p14="http://schemas.microsoft.com/office/powerpoint/2010/main" val="3554816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Selected model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>
          <a:xfrm>
            <a:off x="552450" y="1282700"/>
            <a:ext cx="6629400" cy="3445622"/>
          </a:xfrm>
        </p:spPr>
        <p:txBody>
          <a:bodyPr/>
          <a:lstStyle/>
          <a:p>
            <a:r>
              <a:rPr lang="en-US" sz="2000" dirty="0" smtClean="0"/>
              <a:t>Through 2019, forecasts from the VAR and STL are the same – projections of 2.2 million jobs versus 1.8 million actual jobs added</a:t>
            </a:r>
          </a:p>
          <a:p>
            <a:r>
              <a:rPr lang="en-US" sz="2000" dirty="0" err="1" smtClean="0"/>
              <a:t>Zakir</a:t>
            </a:r>
            <a:r>
              <a:rPr lang="en-US" sz="2000" dirty="0" smtClean="0"/>
              <a:t>: You will need to adjust this</a:t>
            </a:r>
            <a:endParaRPr lang="en-US" sz="2000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101D-EE4F-E14F-B986-E9B4B91F2B37}" type="datetime1">
              <a:rPr lang="en-US" smtClean="0"/>
              <a:pPr/>
              <a:t>6/4/2021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CC8D6-1311-6F42-B063-A331488CED07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[Click “View &gt; Header and Footer” to Edit]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1330898"/>
              </p:ext>
            </p:extLst>
          </p:nvPr>
        </p:nvGraphicFramePr>
        <p:xfrm>
          <a:off x="7391400" y="2655094"/>
          <a:ext cx="4711704" cy="1817688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1177926">
                  <a:extLst>
                    <a:ext uri="{9D8B030D-6E8A-4147-A177-3AD203B41FA5}">
                      <a16:colId xmlns:a16="http://schemas.microsoft.com/office/drawing/2014/main" val="1673321710"/>
                    </a:ext>
                  </a:extLst>
                </a:gridCol>
                <a:gridCol w="1177926">
                  <a:extLst>
                    <a:ext uri="{9D8B030D-6E8A-4147-A177-3AD203B41FA5}">
                      <a16:colId xmlns:a16="http://schemas.microsoft.com/office/drawing/2014/main" val="2158848835"/>
                    </a:ext>
                  </a:extLst>
                </a:gridCol>
                <a:gridCol w="1177926">
                  <a:extLst>
                    <a:ext uri="{9D8B030D-6E8A-4147-A177-3AD203B41FA5}">
                      <a16:colId xmlns:a16="http://schemas.microsoft.com/office/drawing/2014/main" val="3684999392"/>
                    </a:ext>
                  </a:extLst>
                </a:gridCol>
                <a:gridCol w="1177926">
                  <a:extLst>
                    <a:ext uri="{9D8B030D-6E8A-4147-A177-3AD203B41FA5}">
                      <a16:colId xmlns:a16="http://schemas.microsoft.com/office/drawing/2014/main" val="1804646177"/>
                    </a:ext>
                  </a:extLst>
                </a:gridCol>
              </a:tblGrid>
              <a:tr h="908844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VAR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STL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Deep Learning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84836410"/>
                  </a:ext>
                </a:extLst>
              </a:tr>
              <a:tr h="908844">
                <a:tc>
                  <a:txBody>
                    <a:bodyPr/>
                    <a:lstStyle/>
                    <a:p>
                      <a:r>
                        <a:rPr lang="en-US" dirty="0" smtClean="0"/>
                        <a:t>MAPE for 2019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22.22%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mtClean="0"/>
                        <a:t>22.22%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1118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801751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Results and future work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Both the VAR and STL do a decent job of projecting jobs growth through 2019</a:t>
            </a:r>
          </a:p>
          <a:p>
            <a:r>
              <a:rPr lang="en-US" dirty="0" smtClean="0"/>
              <a:t>It is clear that Covid-19 has had a profound impact as our forecasts beyond 2019 do not perform as well</a:t>
            </a:r>
          </a:p>
          <a:p>
            <a:r>
              <a:rPr lang="en-US" dirty="0" smtClean="0"/>
              <a:t>Forecasts have improved for 2021 </a:t>
            </a:r>
            <a:r>
              <a:rPr lang="en-US" dirty="0" err="1" smtClean="0"/>
              <a:t>verus</a:t>
            </a:r>
            <a:r>
              <a:rPr lang="en-US" dirty="0" smtClean="0"/>
              <a:t> 2020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101D-EE4F-E14F-B986-E9B4B91F2B37}" type="datetime1">
              <a:rPr lang="en-US" smtClean="0"/>
              <a:pPr/>
              <a:t>6/4/2021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CC8D6-1311-6F42-B063-A331488CED07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[Click “View &gt; Header and Footer” to Edit]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200" y="363537"/>
            <a:ext cx="3362325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For this exercise, we decided </a:t>
            </a:r>
            <a:r>
              <a:rPr lang="en-US" i="1" dirty="0"/>
              <a:t>not </a:t>
            </a:r>
            <a:r>
              <a:rPr lang="en-US" dirty="0"/>
              <a:t>to use additional covariates for simplicity.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Clearly, incorporating such information would prove useful in our projections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An ensemble model might be useful in stabilizing the model since the pandemic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Alternatively, we could apply some sort of pulse function – to capture the temporary, albeit enormous, impact of Covid-19, which has been breaking a lot of models that are used to describe employment and the broader </a:t>
            </a:r>
            <a:r>
              <a:rPr lang="en-US" dirty="0" err="1"/>
              <a:t>macroeconomy</a:t>
            </a:r>
            <a:r>
              <a:rPr lang="en-US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725828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Thank you!</a:t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r>
              <a:rPr lang="en-US" dirty="0"/>
              <a:t>Questions?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36101D-EE4F-E14F-B986-E9B4B91F2B37}" type="datetime1">
              <a:rPr lang="en-US" smtClean="0"/>
              <a:pPr/>
              <a:t>6/4/2021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ECC8D6-1311-6F42-B063-A331488CED07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[Click “View &gt; Header and Footer” to Edit]</a:t>
            </a:r>
          </a:p>
        </p:txBody>
      </p:sp>
    </p:spTree>
    <p:extLst>
      <p:ext uri="{BB962C8B-B14F-4D97-AF65-F5344CB8AC3E}">
        <p14:creationId xmlns:p14="http://schemas.microsoft.com/office/powerpoint/2010/main" val="191140269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1431AB0C9779A43BD885F94626F2265" ma:contentTypeVersion="4" ma:contentTypeDescription="Create a new document." ma:contentTypeScope="" ma:versionID="9d54a7e8d952f0d899b5faef706f4bec">
  <xsd:schema xmlns:xsd="http://www.w3.org/2001/XMLSchema" xmlns:xs="http://www.w3.org/2001/XMLSchema" xmlns:p="http://schemas.microsoft.com/office/2006/metadata/properties" xmlns:ns2="edb7b4ce-fc58-4455-a047-7dd82c0d9b47" targetNamespace="http://schemas.microsoft.com/office/2006/metadata/properties" ma:root="true" ma:fieldsID="332970e168b43bc8cb68fdee2bf610ec" ns2:_="">
    <xsd:import namespace="edb7b4ce-fc58-4455-a047-7dd82c0d9b47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KeyPoints" minOccurs="0"/>
                <xsd:element ref="ns2:MediaServiceKeyPoint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db7b4ce-fc58-4455-a047-7dd82c0d9b4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41841E5-2874-4A44-BAA6-A7911A1F892F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B11726AF-0388-424A-A6D5-9D83C71D67D1}">
  <ds:schemaRefs>
    <ds:schemaRef ds:uri="edb7b4ce-fc58-4455-a047-7dd82c0d9b47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E42083E8-1515-4842-ADC3-57EEB8B8282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3624</TotalTime>
  <Words>830</Words>
  <Application>Microsoft Office PowerPoint</Application>
  <PresentationFormat>Widescreen</PresentationFormat>
  <Paragraphs>103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Trebuchet MS</vt:lpstr>
      <vt:lpstr>Office Theme</vt:lpstr>
      <vt:lpstr>PowerPoint Presentation</vt:lpstr>
      <vt:lpstr>Problem statement</vt:lpstr>
      <vt:lpstr>Assumptions &amp; Hypotheses about Data</vt:lpstr>
      <vt:lpstr>Data properties, processing &amp; Feature engineering</vt:lpstr>
      <vt:lpstr>Statistical model </vt:lpstr>
      <vt:lpstr>Curve fitting model</vt:lpstr>
      <vt:lpstr>STL decomposition</vt:lpstr>
      <vt:lpstr>Deep learning model </vt:lpstr>
      <vt:lpstr>Selected model </vt:lpstr>
      <vt:lpstr>Results and future work</vt:lpstr>
      <vt:lpstr>Thank you!     Questions?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 Mining Principles</dc:title>
  <dc:creator>Pamuksuz, Utku</dc:creator>
  <cp:lastModifiedBy>Ross Cole</cp:lastModifiedBy>
  <cp:revision>60</cp:revision>
  <dcterms:created xsi:type="dcterms:W3CDTF">2020-04-30T16:15:42Z</dcterms:created>
  <dcterms:modified xsi:type="dcterms:W3CDTF">2021-06-04T14:47:53Z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0x01010071431AB0C9779A43BD885F94626F2265</vt:lpwstr>
  </property>
</Properties>
</file>